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D32A"/>
          </a:solidFill>
          <a:ln w="12700">
            <a:solidFill>
              <a:srgbClr val="FFD3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1371600"/>
          </a:xfrm>
          <a:prstGeom prst="rect">
            <a:avLst/>
          </a:prstGeom>
          <a:solidFill>
            <a:srgbClr val="FFD32A">
              <a:alpha val="12000"/>
            </a:srgbClr>
          </a:solidFill>
          <a:ln w="12700">
            <a:solidFill>
              <a:srgbClr val="FFD3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74320"/>
            <a:ext cx="1005840" cy="384048"/>
          </a:xfrm>
          <a:prstGeom prst="rect">
            <a:avLst/>
          </a:prstGeom>
          <a:solidFill>
            <a:srgbClr val="FFD32A">
              <a:alpha val="20000"/>
            </a:srgbClr>
          </a:solidFill>
          <a:ln w="12700">
            <a:solidFill>
              <a:srgbClr val="FFD3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743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32A"/>
                </a:solidFill>
              </a:rPr>
              <a:t>BL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CompTIA Security+ SY0-701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234440"/>
            <a:ext cx="8321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Governance &amp; Policies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411480" y="2788920"/>
            <a:ext cx="2011680" cy="45720"/>
          </a:xfrm>
          <a:prstGeom prst="rect">
            <a:avLst/>
          </a:prstGeom>
          <a:solidFill>
            <a:srgbClr val="FFD32A"/>
          </a:solidFill>
          <a:ln w="12700">
            <a:solidFill>
              <a:srgbClr val="FFD3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9718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0D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NIST CSF · ISO 27001 · CIS Controls · HIPAA · PCI-DSS · GDPR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Study Presentation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FFD32A">
              <a:alpha val="60000"/>
            </a:srgbClr>
          </a:solidFill>
          <a:ln w="12700">
            <a:solidFill>
              <a:srgbClr val="FFD3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D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Frameworks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4069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CSF — 6 functions: Govern, Identify, Protect, Detect, Respond, Recover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SP 800-53 — Security controls for US federal information systems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27001 — International standard for Information Security Management System (ISMS)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27002 — Code of practice; implementation guidance for 27001 controls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Controls — 18 prioritized actions; implementation groups for different org sizes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COBIT — Governance framework for IT management (especially for audit/compliance)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are descriptive, not prescriptive — adapt to your organization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18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CompTIA Security+ SY0-701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FFD32A">
              <a:alpha val="60000"/>
            </a:srgbClr>
          </a:solidFill>
          <a:ln w="12700">
            <a:solidFill>
              <a:srgbClr val="FFD3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D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Compliance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114800" cy="4023360"/>
          </a:xfrm>
          <a:prstGeom prst="rect">
            <a:avLst/>
          </a:prstGeom>
          <a:solidFill>
            <a:srgbClr val="111827"/>
          </a:solidFill>
          <a:ln w="12700">
            <a:solidFill>
              <a:srgbClr val="FFD3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04672"/>
            <a:ext cx="4114800" cy="347472"/>
          </a:xfrm>
          <a:prstGeom prst="rect">
            <a:avLst/>
          </a:prstGeom>
          <a:solidFill>
            <a:srgbClr val="FFD32A">
              <a:alpha val="30000"/>
            </a:srgbClr>
          </a:solidFill>
          <a:ln w="12700">
            <a:solidFill>
              <a:srgbClr val="FFD3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Regulations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207008"/>
            <a:ext cx="3886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— Healthcare data (PHI); breach notification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PCI-DSS — Payment card data; 12 requirements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SOX — Financial controls; IT audit requirements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FERPA — Student education records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FISMA — Federal information systems security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GLBA — Financial institutions customer data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804672"/>
            <a:ext cx="4114800" cy="4023360"/>
          </a:xfrm>
          <a:prstGeom prst="rect">
            <a:avLst/>
          </a:prstGeom>
          <a:solidFill>
            <a:srgbClr val="111827"/>
          </a:solidFill>
          <a:ln w="12700">
            <a:solidFill>
              <a:srgbClr val="7B2F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804672"/>
            <a:ext cx="4114800" cy="347472"/>
          </a:xfrm>
          <a:prstGeom prst="rect">
            <a:avLst/>
          </a:prstGeom>
          <a:solidFill>
            <a:srgbClr val="7B2FBE">
              <a:alpha val="30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822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Regulations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1207008"/>
            <a:ext cx="3886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— EU; broad privacy rights; fines up to 4% revenue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CCPA — California Consumer Privacy Act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PIPEDA — Canada privacy law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LGPD — Brazil General Data Protection Law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sovereignty — data must stay in home country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by design — build privacy in from the start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4818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CompTIA Security+ SY0-701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FFD32A">
              <a:alpha val="60000"/>
            </a:srgbClr>
          </a:solidFill>
          <a:ln w="12700">
            <a:solidFill>
              <a:srgbClr val="FFD3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D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Policy Hierarchy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4069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— High-level statements of security intent (what we do and why)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— Specific mandatory requirements supporting the policy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 — Step-by-step instructions for implementing standards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 — Recommended but not mandatory best practices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AUP (Acceptable Use Policy) — Rules for using company systems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Classification Policy — Defines data sensitivity levels and handling requirements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BCP/DRP policies — Business continuity and disaster recovery requirements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18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CompTIA Security+ SY0-701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827">
              <a:alpha val="4000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D32A"/>
          </a:solidFill>
          <a:ln w="12700">
            <a:solidFill>
              <a:srgbClr val="FFD3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D3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Governance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508760"/>
            <a:ext cx="1371600" cy="36576"/>
          </a:xfrm>
          <a:prstGeom prst="rect">
            <a:avLst/>
          </a:prstGeom>
          <a:solidFill>
            <a:srgbClr val="FFD32A"/>
          </a:solidFill>
          <a:ln w="12700">
            <a:solidFill>
              <a:srgbClr val="FFD3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664208"/>
            <a:ext cx="292608" cy="292608"/>
          </a:xfrm>
          <a:prstGeom prst="rect">
            <a:avLst/>
          </a:prstGeom>
          <a:solidFill>
            <a:srgbClr val="FFD32A">
              <a:alpha val="30000"/>
            </a:srgbClr>
          </a:solidFill>
          <a:ln w="12700">
            <a:solidFill>
              <a:srgbClr val="FFD3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664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664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CSF provides a common language for security programs across industries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2286000"/>
            <a:ext cx="292608" cy="292608"/>
          </a:xfrm>
          <a:prstGeom prst="rect">
            <a:avLst/>
          </a:prstGeom>
          <a:solidFill>
            <a:srgbClr val="FFD32A">
              <a:alpha val="30000"/>
            </a:srgbClr>
          </a:solidFill>
          <a:ln w="12700">
            <a:solidFill>
              <a:srgbClr val="FFD3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286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28600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applies to any org processing EU resident data — regardless of where org is based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2907792"/>
            <a:ext cx="292608" cy="292608"/>
          </a:xfrm>
          <a:prstGeom prst="rect">
            <a:avLst/>
          </a:prstGeom>
          <a:solidFill>
            <a:srgbClr val="FFD32A">
              <a:alpha val="30000"/>
            </a:srgbClr>
          </a:solidFill>
          <a:ln w="12700">
            <a:solidFill>
              <a:srgbClr val="FFD3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9077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290779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requires safeguards for PHI; breach notification within 60 days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" y="3529584"/>
            <a:ext cx="292608" cy="292608"/>
          </a:xfrm>
          <a:prstGeom prst="rect">
            <a:avLst/>
          </a:prstGeom>
          <a:solidFill>
            <a:srgbClr val="FFD32A">
              <a:alpha val="30000"/>
            </a:srgbClr>
          </a:solidFill>
          <a:ln w="12700">
            <a:solidFill>
              <a:srgbClr val="FFD3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5295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3529584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PCI-DSS applies to all orgs that store, process, or transmit cardholder data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11480" y="4151376"/>
            <a:ext cx="292608" cy="292608"/>
          </a:xfrm>
          <a:prstGeom prst="rect">
            <a:avLst/>
          </a:prstGeom>
          <a:solidFill>
            <a:srgbClr val="FFD32A">
              <a:alpha val="30000"/>
            </a:srgbClr>
          </a:solidFill>
          <a:ln w="12700">
            <a:solidFill>
              <a:srgbClr val="FFD3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41513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4151376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→ Standard → Procedure → Guideline is the hierarchy from general to specific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818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CompTIA Security+ SY0-701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Security Governance &amp; Policies</dc:title>
  <dc:subject>PptxGenJS Presentation</dc:subject>
  <dc:creator>BL Cybersecurity Series</dc:creator>
  <cp:lastModifiedBy>BL Cybersecurity Series</cp:lastModifiedBy>
  <cp:revision>1</cp:revision>
  <dcterms:created xsi:type="dcterms:W3CDTF">2026-03-06T06:53:54Z</dcterms:created>
  <dcterms:modified xsi:type="dcterms:W3CDTF">2026-03-06T06:53:54Z</dcterms:modified>
</cp:coreProperties>
</file>