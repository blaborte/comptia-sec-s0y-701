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FD32A"/>
          </a:solidFill>
          <a:ln w="12700">
            <a:solidFill>
              <a:srgbClr val="FFD3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72400" y="0"/>
            <a:ext cx="1371600" cy="1371600"/>
          </a:xfrm>
          <a:prstGeom prst="rect">
            <a:avLst/>
          </a:prstGeom>
          <a:solidFill>
            <a:srgbClr val="FFD32A">
              <a:alpha val="12000"/>
            </a:srgbClr>
          </a:solidFill>
          <a:ln w="12700">
            <a:solidFill>
              <a:srgbClr val="FFD32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11480" y="274320"/>
            <a:ext cx="1005840" cy="384048"/>
          </a:xfrm>
          <a:prstGeom prst="rect">
            <a:avLst/>
          </a:prstGeom>
          <a:solidFill>
            <a:srgbClr val="FFD32A">
              <a:alpha val="20000"/>
            </a:srgbClr>
          </a:solidFill>
          <a:ln w="12700">
            <a:solidFill>
              <a:srgbClr val="FFD32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274320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D32A"/>
                </a:solidFill>
              </a:rPr>
              <a:t>BL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11480" y="74980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5A7A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CompTIA Security+ SY0-701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11480" y="1234440"/>
            <a:ext cx="83210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Management</a:t>
            </a:r>
            <a:endParaRPr lang="en-US" sz="4000" dirty="0"/>
          </a:p>
        </p:txBody>
      </p:sp>
      <p:sp>
        <p:nvSpPr>
          <p:cNvPr id="8" name="Shape 6"/>
          <p:cNvSpPr/>
          <p:nvPr/>
        </p:nvSpPr>
        <p:spPr>
          <a:xfrm>
            <a:off x="411480" y="2788920"/>
            <a:ext cx="2011680" cy="45720"/>
          </a:xfrm>
          <a:prstGeom prst="rect">
            <a:avLst/>
          </a:prstGeom>
          <a:solidFill>
            <a:srgbClr val="FFD32A"/>
          </a:solidFill>
          <a:ln w="12700">
            <a:solidFill>
              <a:srgbClr val="FFD32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29718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0D8F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Risk Analysis · BIA · BCP · DRP · RTO · RPO · Third-Party Risk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E2A3A"/>
          </a:solidFill>
          <a:ln w="12700">
            <a:solidFill>
              <a:srgbClr val="1E2A3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4773168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5A7A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 Cybersecurity Series  ·  Study Presentation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0080"/>
            <a:ext cx="9144000" cy="36576"/>
          </a:xfrm>
          <a:prstGeom prst="rect">
            <a:avLst/>
          </a:prstGeom>
          <a:solidFill>
            <a:srgbClr val="FFD32A">
              <a:alpha val="60000"/>
            </a:srgbClr>
          </a:solidFill>
          <a:ln w="12700">
            <a:solidFill>
              <a:srgbClr val="FFD3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D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Concepts &amp; Analysis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822960"/>
            <a:ext cx="8229600" cy="4069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▶"/>
            </a:pPr>
            <a:r>
              <a:rPr lang="en-US" sz="13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= Threat × Vulnerability × Impact — likelihood of harm and its consequence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▶"/>
            </a:pPr>
            <a:r>
              <a:rPr lang="en-US" sz="13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INHERENT RISK — Risk before any controls are applied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▶"/>
            </a:pPr>
            <a:r>
              <a:rPr lang="en-US" sz="13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RESIDUAL RISK — Remaining risk after controls are implemented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▶"/>
            </a:pPr>
            <a:r>
              <a:rPr lang="en-US" sz="13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RISK — Risk that a control fails to mitigate the threat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▶"/>
            </a:pPr>
            <a:r>
              <a:rPr lang="en-US" sz="13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QUALITATIVE — Subjective ratings (High/Medium/Low); faster; less data needed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▶"/>
            </a:pPr>
            <a:r>
              <a:rPr lang="en-US" sz="13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QUANTITATIVE — Dollar values; SLE = AV × EF; ALE = SLE × ARO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▶"/>
            </a:pPr>
            <a:r>
              <a:rPr lang="en-US" sz="13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SLE (Single Loss Expectancy) | ALE (Annual Loss Expectancy) | ARO (Annual Rate of Occurrence)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0" y="4773168"/>
            <a:ext cx="9144000" cy="365760"/>
          </a:xfrm>
          <a:prstGeom prst="rect">
            <a:avLst/>
          </a:prstGeom>
          <a:solidFill>
            <a:srgbClr val="1E2A3A"/>
          </a:solidFill>
          <a:ln w="12700">
            <a:solidFill>
              <a:srgbClr val="1E2A3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81888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7A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 Cybersecurity Series  ·  CompTIA Security+ SY0-701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0080"/>
            <a:ext cx="9144000" cy="36576"/>
          </a:xfrm>
          <a:prstGeom prst="rect">
            <a:avLst/>
          </a:prstGeom>
          <a:solidFill>
            <a:srgbClr val="FFD32A">
              <a:alpha val="60000"/>
            </a:srgbClr>
          </a:solidFill>
          <a:ln w="12700">
            <a:solidFill>
              <a:srgbClr val="FFD3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D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Treatment Options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804672"/>
            <a:ext cx="4114800" cy="4023360"/>
          </a:xfrm>
          <a:prstGeom prst="rect">
            <a:avLst/>
          </a:prstGeom>
          <a:solidFill>
            <a:srgbClr val="111827"/>
          </a:solidFill>
          <a:ln w="12700">
            <a:solidFill>
              <a:srgbClr val="FFD32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804672"/>
            <a:ext cx="4114800" cy="347472"/>
          </a:xfrm>
          <a:prstGeom prst="rect">
            <a:avLst/>
          </a:prstGeom>
          <a:solidFill>
            <a:srgbClr val="FFD32A">
              <a:alpha val="30000"/>
            </a:srgbClr>
          </a:solidFill>
          <a:ln w="12700">
            <a:solidFill>
              <a:srgbClr val="FFD32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82296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Treatment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11480" y="1207008"/>
            <a:ext cx="388620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▶"/>
            </a:pPr>
            <a:r>
              <a:rPr lang="en-US" sz="12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 — Acknowledge risk; no action (cost &gt; benefit)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▶"/>
            </a:pPr>
            <a:r>
              <a:rPr lang="en-US" sz="12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 — Eliminate the activity causing risk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▶"/>
            </a:pPr>
            <a:r>
              <a:rPr lang="en-US" sz="12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MITIGATE — Implement controls to reduce risk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▶"/>
            </a:pPr>
            <a:r>
              <a:rPr lang="en-US" sz="12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 — Insurance, contracts, outsource risk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▶"/>
            </a:pPr>
            <a:r>
              <a:rPr lang="en-US" sz="12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APPETITE — How much risk org is willing to take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▶"/>
            </a:pPr>
            <a:r>
              <a:rPr lang="en-US" sz="12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TOLERANCE — Acceptable variance from appetite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54880" y="804672"/>
            <a:ext cx="4114800" cy="4023360"/>
          </a:xfrm>
          <a:prstGeom prst="rect">
            <a:avLst/>
          </a:prstGeom>
          <a:solidFill>
            <a:srgbClr val="111827"/>
          </a:solidFill>
          <a:ln w="12700">
            <a:solidFill>
              <a:srgbClr val="7B2FB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804672"/>
            <a:ext cx="4114800" cy="347472"/>
          </a:xfrm>
          <a:prstGeom prst="rect">
            <a:avLst/>
          </a:prstGeom>
          <a:solidFill>
            <a:srgbClr val="7B2FBE">
              <a:alpha val="30000"/>
            </a:srgbClr>
          </a:solidFill>
          <a:ln w="12700">
            <a:solidFill>
              <a:srgbClr val="7B2FB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46320" y="82296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BIA — Business Impact Analysis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800600" y="1207008"/>
            <a:ext cx="388620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▶"/>
            </a:pPr>
            <a:r>
              <a:rPr lang="en-US" sz="12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critical business functions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▶"/>
            </a:pPr>
            <a:r>
              <a:rPr lang="en-US" sz="12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Determine dependencies and single points of failure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▶"/>
            </a:pPr>
            <a:r>
              <a:rPr lang="en-US" sz="12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RTO — Recovery Time Objective (max downtime)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▶"/>
            </a:pPr>
            <a:r>
              <a:rPr lang="en-US" sz="12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RPO — Recovery Point Objective (max data loss)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▶"/>
            </a:pPr>
            <a:r>
              <a:rPr lang="en-US" sz="12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MTTR — Mean Time To Repair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▶"/>
            </a:pPr>
            <a:r>
              <a:rPr lang="en-US" sz="12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MTBF — Mean Time Between Failures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0" y="4773168"/>
            <a:ext cx="9144000" cy="365760"/>
          </a:xfrm>
          <a:prstGeom prst="rect">
            <a:avLst/>
          </a:prstGeom>
          <a:solidFill>
            <a:srgbClr val="1E2A3A"/>
          </a:solidFill>
          <a:ln w="12700">
            <a:solidFill>
              <a:srgbClr val="1E2A3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4320" y="481888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7A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 Cybersecurity Series  ·  CompTIA Security+ SY0-701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0080"/>
            <a:ext cx="9144000" cy="36576"/>
          </a:xfrm>
          <a:prstGeom prst="rect">
            <a:avLst/>
          </a:prstGeom>
          <a:solidFill>
            <a:srgbClr val="FFD32A">
              <a:alpha val="60000"/>
            </a:srgbClr>
          </a:solidFill>
          <a:ln w="12700">
            <a:solidFill>
              <a:srgbClr val="FFD3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D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BCP, DRP &amp; Third-Party Risk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822960"/>
            <a:ext cx="8229600" cy="4069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▶"/>
            </a:pPr>
            <a:r>
              <a:rPr lang="en-US" sz="13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BCP (Business Continuity Plan) — Keep business running during/after disruption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▶"/>
            </a:pPr>
            <a:r>
              <a:rPr lang="en-US" sz="13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DRP (Disaster Recovery Plan) — Restore IT systems after disaster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▶"/>
            </a:pPr>
            <a:r>
              <a:rPr lang="en-US" sz="13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 SITE — Fully operational duplicate facility; immediate failover; expensive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▶"/>
            </a:pPr>
            <a:r>
              <a:rPr lang="en-US" sz="13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WARM SITE — Hardware present; data partially synced; hours to activate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▶"/>
            </a:pPr>
            <a:r>
              <a:rPr lang="en-US" sz="13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COLD SITE — Empty facility; no hardware; cheapest; days/weeks to activate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▶"/>
            </a:pPr>
            <a:r>
              <a:rPr lang="en-US" sz="13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THIRD-PARTY RISK — Vendors access your data/systems; must assess their security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▶"/>
            </a:pPr>
            <a:r>
              <a:rPr lang="en-US" sz="13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 questionnaires, SOC 2 reports, right-to-audit clauses manage third-party risk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0" y="4773168"/>
            <a:ext cx="9144000" cy="365760"/>
          </a:xfrm>
          <a:prstGeom prst="rect">
            <a:avLst/>
          </a:prstGeom>
          <a:solidFill>
            <a:srgbClr val="1E2A3A"/>
          </a:solidFill>
          <a:ln w="12700">
            <a:solidFill>
              <a:srgbClr val="1E2A3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81888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7A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 Cybersecurity Series  ·  CompTIA Security+ SY0-701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11827">
              <a:alpha val="40000"/>
            </a:srgbClr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FD32A"/>
          </a:solidFill>
          <a:ln w="12700">
            <a:solidFill>
              <a:srgbClr val="FFD3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3657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FD3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KEY TAKEAWAYS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7315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Management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11480" y="1508760"/>
            <a:ext cx="1371600" cy="36576"/>
          </a:xfrm>
          <a:prstGeom prst="rect">
            <a:avLst/>
          </a:prstGeom>
          <a:solidFill>
            <a:srgbClr val="FFD32A"/>
          </a:solidFill>
          <a:ln w="12700">
            <a:solidFill>
              <a:srgbClr val="FFD32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11480" y="1664208"/>
            <a:ext cx="292608" cy="292608"/>
          </a:xfrm>
          <a:prstGeom prst="rect">
            <a:avLst/>
          </a:prstGeom>
          <a:solidFill>
            <a:srgbClr val="FFD32A">
              <a:alpha val="30000"/>
            </a:srgbClr>
          </a:solidFill>
          <a:ln w="12700">
            <a:solidFill>
              <a:srgbClr val="FFD3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6642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22960" y="1664208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 = SLE × ARO — use this to justify security control costs (if control &lt; ALE, invest)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11480" y="2286000"/>
            <a:ext cx="292608" cy="292608"/>
          </a:xfrm>
          <a:prstGeom prst="rect">
            <a:avLst/>
          </a:prstGeom>
          <a:solidFill>
            <a:srgbClr val="FFD32A">
              <a:alpha val="30000"/>
            </a:srgbClr>
          </a:solidFill>
          <a:ln w="12700">
            <a:solidFill>
              <a:srgbClr val="FFD32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22860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22960" y="2286000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RTO is maximum tolerable downtime; RPO is maximum tolerable data loss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11480" y="2907792"/>
            <a:ext cx="292608" cy="292608"/>
          </a:xfrm>
          <a:prstGeom prst="rect">
            <a:avLst/>
          </a:prstGeom>
          <a:solidFill>
            <a:srgbClr val="FFD32A">
              <a:alpha val="30000"/>
            </a:srgbClr>
          </a:solidFill>
          <a:ln w="12700">
            <a:solidFill>
              <a:srgbClr val="FFD32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" y="290779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22960" y="2907792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 site = immediate recovery; warm = hours; cold = days — cost vs. speed tradeoff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11480" y="3529584"/>
            <a:ext cx="292608" cy="292608"/>
          </a:xfrm>
          <a:prstGeom prst="rect">
            <a:avLst/>
          </a:prstGeom>
          <a:solidFill>
            <a:srgbClr val="FFD32A">
              <a:alpha val="30000"/>
            </a:srgbClr>
          </a:solidFill>
          <a:ln w="12700">
            <a:solidFill>
              <a:srgbClr val="FFD32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1480" y="352958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22960" y="3529584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can be accepted, avoided, mitigated, or transferred — never fully eliminated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11480" y="4151376"/>
            <a:ext cx="292608" cy="292608"/>
          </a:xfrm>
          <a:prstGeom prst="rect">
            <a:avLst/>
          </a:prstGeom>
          <a:solidFill>
            <a:srgbClr val="FFD32A">
              <a:alpha val="30000"/>
            </a:srgbClr>
          </a:solidFill>
          <a:ln w="12700">
            <a:solidFill>
              <a:srgbClr val="FFD32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11480" y="415137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22960" y="4151376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Third-party vendors are a major risk vector — assess, contract, and monitor them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0" y="4773168"/>
            <a:ext cx="9144000" cy="365760"/>
          </a:xfrm>
          <a:prstGeom prst="rect">
            <a:avLst/>
          </a:prstGeom>
          <a:solidFill>
            <a:srgbClr val="1E2A3A"/>
          </a:solidFill>
          <a:ln w="12700">
            <a:solidFill>
              <a:srgbClr val="1E2A3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74320" y="481888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7A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 Cybersecurity Series  ·  CompTIA Security+ SY0-701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Risk Management</dc:title>
  <dc:subject>PptxGenJS Presentation</dc:subject>
  <dc:creator>BL Cybersecurity Series</dc:creator>
  <cp:lastModifiedBy>BL Cybersecurity Series</cp:lastModifiedBy>
  <cp:revision>1</cp:revision>
  <dcterms:created xsi:type="dcterms:W3CDTF">2026-03-06T06:53:54Z</dcterms:created>
  <dcterms:modified xsi:type="dcterms:W3CDTF">2026-03-06T06:53:54Z</dcterms:modified>
</cp:coreProperties>
</file>